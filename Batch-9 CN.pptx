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5" r:id="rId8"/>
    <p:sldId id="263" r:id="rId9"/>
    <p:sldId id="264"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708"/>
  </p:normalViewPr>
  <p:slideViewPr>
    <p:cSldViewPr>
      <p:cViewPr>
        <p:scale>
          <a:sx n="121" d="100"/>
          <a:sy n="121" d="100"/>
        </p:scale>
        <p:origin x="144" y="1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6" name="Holder 6"/>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4" name="Holder 4"/>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3" name="Holder 3"/>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13738" y="422605"/>
            <a:ext cx="8764523" cy="641349"/>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92835" y="1250086"/>
            <a:ext cx="9725660" cy="3154045"/>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0324592" y="6460642"/>
            <a:ext cx="1431290"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a:xfrm>
            <a:off x="380491" y="6460642"/>
            <a:ext cx="752475"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7611" y="1363309"/>
            <a:ext cx="8973185" cy="954405"/>
          </a:xfrm>
          <a:prstGeom prst="rect">
            <a:avLst/>
          </a:prstGeom>
        </p:spPr>
        <p:txBody>
          <a:bodyPr vert="horz" wrap="square" lIns="0" tIns="64135" rIns="0" bIns="0" rtlCol="0">
            <a:spAutoFit/>
          </a:bodyPr>
          <a:lstStyle/>
          <a:p>
            <a:pPr marL="2655570" marR="5080" indent="-2643505">
              <a:lnSpc>
                <a:spcPts val="3479"/>
              </a:lnSpc>
              <a:spcBef>
                <a:spcPts val="505"/>
              </a:spcBef>
            </a:pPr>
            <a:r>
              <a:rPr dirty="0">
                <a:latin typeface="Calibri Light"/>
                <a:cs typeface="Calibri Light"/>
              </a:rPr>
              <a:t>SRI</a:t>
            </a:r>
            <a:r>
              <a:rPr spc="-100" dirty="0">
                <a:latin typeface="Calibri Light"/>
                <a:cs typeface="Calibri Light"/>
              </a:rPr>
              <a:t> </a:t>
            </a:r>
            <a:r>
              <a:rPr spc="-20" dirty="0">
                <a:latin typeface="Calibri Light"/>
                <a:cs typeface="Calibri Light"/>
              </a:rPr>
              <a:t>INDU</a:t>
            </a:r>
            <a:r>
              <a:rPr spc="-165" dirty="0">
                <a:latin typeface="Calibri Light"/>
                <a:cs typeface="Calibri Light"/>
              </a:rPr>
              <a:t> </a:t>
            </a:r>
            <a:r>
              <a:rPr spc="-45" dirty="0">
                <a:latin typeface="Calibri Light"/>
                <a:cs typeface="Calibri Light"/>
              </a:rPr>
              <a:t>COLLEGE</a:t>
            </a:r>
            <a:r>
              <a:rPr spc="-175" dirty="0">
                <a:latin typeface="Calibri Light"/>
                <a:cs typeface="Calibri Light"/>
              </a:rPr>
              <a:t> </a:t>
            </a:r>
            <a:r>
              <a:rPr dirty="0">
                <a:latin typeface="Calibri Light"/>
                <a:cs typeface="Calibri Light"/>
              </a:rPr>
              <a:t>OF</a:t>
            </a:r>
            <a:r>
              <a:rPr spc="-55" dirty="0">
                <a:latin typeface="Calibri Light"/>
                <a:cs typeface="Calibri Light"/>
              </a:rPr>
              <a:t> </a:t>
            </a:r>
            <a:r>
              <a:rPr spc="-50" dirty="0">
                <a:latin typeface="Calibri Light"/>
                <a:cs typeface="Calibri Light"/>
              </a:rPr>
              <a:t>ENGINEERING</a:t>
            </a:r>
            <a:r>
              <a:rPr spc="-229" dirty="0">
                <a:latin typeface="Calibri Light"/>
                <a:cs typeface="Calibri Light"/>
              </a:rPr>
              <a:t> </a:t>
            </a:r>
            <a:r>
              <a:rPr dirty="0">
                <a:latin typeface="Calibri Light"/>
                <a:cs typeface="Calibri Light"/>
              </a:rPr>
              <a:t>AND</a:t>
            </a:r>
            <a:r>
              <a:rPr spc="-125" dirty="0">
                <a:latin typeface="Calibri Light"/>
                <a:cs typeface="Calibri Light"/>
              </a:rPr>
              <a:t> </a:t>
            </a:r>
            <a:r>
              <a:rPr spc="-10" dirty="0">
                <a:latin typeface="Calibri Light"/>
                <a:cs typeface="Calibri Light"/>
              </a:rPr>
              <a:t>TECHNOLOGY </a:t>
            </a:r>
            <a:r>
              <a:rPr spc="-80" dirty="0">
                <a:latin typeface="Calibri Light"/>
                <a:cs typeface="Calibri Light"/>
              </a:rPr>
              <a:t>DEPARTMENT</a:t>
            </a:r>
            <a:r>
              <a:rPr spc="-105" dirty="0">
                <a:latin typeface="Calibri Light"/>
                <a:cs typeface="Calibri Light"/>
              </a:rPr>
              <a:t> </a:t>
            </a:r>
            <a:r>
              <a:rPr dirty="0">
                <a:latin typeface="Calibri Light"/>
                <a:cs typeface="Calibri Light"/>
              </a:rPr>
              <a:t>OF</a:t>
            </a:r>
            <a:r>
              <a:rPr spc="-100" dirty="0">
                <a:latin typeface="Calibri Light"/>
                <a:cs typeface="Calibri Light"/>
              </a:rPr>
              <a:t> </a:t>
            </a:r>
            <a:r>
              <a:rPr spc="-20" dirty="0">
                <a:latin typeface="Calibri Light"/>
                <a:cs typeface="Calibri Light"/>
              </a:rPr>
              <a:t>AIML</a:t>
            </a:r>
          </a:p>
        </p:txBody>
      </p:sp>
      <p:sp>
        <p:nvSpPr>
          <p:cNvPr id="3" name="object 3"/>
          <p:cNvSpPr txBox="1"/>
          <p:nvPr/>
        </p:nvSpPr>
        <p:spPr>
          <a:xfrm>
            <a:off x="2628900" y="2209800"/>
            <a:ext cx="6934200" cy="2215990"/>
          </a:xfrm>
          <a:prstGeom prst="rect">
            <a:avLst/>
          </a:prstGeom>
        </p:spPr>
        <p:txBody>
          <a:bodyPr vert="horz" wrap="square" lIns="0" tIns="116839" rIns="0" bIns="0" rtlCol="0">
            <a:spAutoFit/>
          </a:bodyPr>
          <a:lstStyle/>
          <a:p>
            <a:pPr marR="147320" algn="ctr">
              <a:lnSpc>
                <a:spcPct val="100000"/>
              </a:lnSpc>
              <a:spcBef>
                <a:spcPts val="919"/>
              </a:spcBef>
            </a:pPr>
            <a:r>
              <a:rPr sz="1700" dirty="0">
                <a:latin typeface="Times New Roman"/>
                <a:cs typeface="Times New Roman"/>
              </a:rPr>
              <a:t>II</a:t>
            </a:r>
            <a:r>
              <a:rPr lang="en-US" sz="1700" spc="-5" dirty="0">
                <a:latin typeface="Times New Roman"/>
                <a:cs typeface="Times New Roman"/>
              </a:rPr>
              <a:t>I </a:t>
            </a:r>
            <a:r>
              <a:rPr sz="1700" dirty="0">
                <a:latin typeface="Times New Roman"/>
                <a:cs typeface="Times New Roman"/>
              </a:rPr>
              <a:t>BTECH</a:t>
            </a:r>
            <a:r>
              <a:rPr sz="1700" spc="-35" dirty="0">
                <a:latin typeface="Times New Roman"/>
                <a:cs typeface="Times New Roman"/>
              </a:rPr>
              <a:t> </a:t>
            </a:r>
            <a:r>
              <a:rPr sz="1700" dirty="0">
                <a:latin typeface="Times New Roman"/>
                <a:cs typeface="Times New Roman"/>
              </a:rPr>
              <a:t>I</a:t>
            </a:r>
            <a:r>
              <a:rPr sz="1700" spc="-45" dirty="0">
                <a:latin typeface="Times New Roman"/>
                <a:cs typeface="Times New Roman"/>
              </a:rPr>
              <a:t> </a:t>
            </a:r>
            <a:r>
              <a:rPr sz="1700" spc="-25" dirty="0">
                <a:latin typeface="Times New Roman"/>
                <a:cs typeface="Times New Roman"/>
              </a:rPr>
              <a:t>SEM</a:t>
            </a:r>
            <a:endParaRPr sz="1700" dirty="0">
              <a:latin typeface="Times New Roman"/>
              <a:cs typeface="Times New Roman"/>
            </a:endParaRPr>
          </a:p>
          <a:p>
            <a:pPr marR="153035" algn="ctr">
              <a:lnSpc>
                <a:spcPct val="100000"/>
              </a:lnSpc>
              <a:spcBef>
                <a:spcPts val="815"/>
              </a:spcBef>
            </a:pPr>
            <a:r>
              <a:rPr sz="1700" spc="-35" dirty="0">
                <a:latin typeface="Times New Roman"/>
                <a:cs typeface="Times New Roman"/>
              </a:rPr>
              <a:t>BATCH</a:t>
            </a:r>
            <a:r>
              <a:rPr sz="1700" spc="-110" dirty="0">
                <a:latin typeface="Times New Roman"/>
                <a:cs typeface="Times New Roman"/>
              </a:rPr>
              <a:t> </a:t>
            </a:r>
            <a:r>
              <a:rPr sz="1700" dirty="0">
                <a:latin typeface="Times New Roman"/>
                <a:cs typeface="Times New Roman"/>
              </a:rPr>
              <a:t>:</a:t>
            </a:r>
            <a:r>
              <a:rPr sz="1700" spc="-40" dirty="0">
                <a:latin typeface="Times New Roman"/>
                <a:cs typeface="Times New Roman"/>
              </a:rPr>
              <a:t> </a:t>
            </a:r>
            <a:r>
              <a:rPr sz="1700" spc="-50" dirty="0">
                <a:latin typeface="Times New Roman"/>
                <a:cs typeface="Times New Roman"/>
              </a:rPr>
              <a:t>9</a:t>
            </a:r>
            <a:endParaRPr lang="en-US" sz="1700" spc="-50" dirty="0">
              <a:latin typeface="Times New Roman"/>
              <a:cs typeface="Times New Roman"/>
            </a:endParaRPr>
          </a:p>
          <a:p>
            <a:pPr marR="153035" algn="ctr">
              <a:lnSpc>
                <a:spcPct val="100000"/>
              </a:lnSpc>
              <a:spcBef>
                <a:spcPts val="815"/>
              </a:spcBef>
            </a:pPr>
            <a:r>
              <a:rPr lang="en-IN" sz="1700" b="1" spc="-50" dirty="0">
                <a:latin typeface="Times New Roman"/>
                <a:cs typeface="Times New Roman"/>
              </a:rPr>
              <a:t>SUBJECT:</a:t>
            </a:r>
            <a:r>
              <a:rPr lang="en-IN" sz="1700" spc="-50" dirty="0">
                <a:latin typeface="Times New Roman"/>
                <a:cs typeface="Times New Roman"/>
              </a:rPr>
              <a:t> Computer Networks Laboratory</a:t>
            </a:r>
            <a:endParaRPr sz="1700" dirty="0">
              <a:latin typeface="Times New Roman"/>
              <a:cs typeface="Times New Roman"/>
            </a:endParaRPr>
          </a:p>
          <a:p>
            <a:pPr marR="123189" algn="ctr">
              <a:spcBef>
                <a:spcPts val="795"/>
              </a:spcBef>
            </a:pPr>
            <a:r>
              <a:rPr sz="1800" b="1" spc="-10" dirty="0">
                <a:latin typeface="Times New Roman"/>
                <a:cs typeface="Times New Roman"/>
              </a:rPr>
              <a:t>TOPIC:</a:t>
            </a:r>
            <a:r>
              <a:rPr lang="en-US" sz="1800" b="1" spc="-10" dirty="0">
                <a:latin typeface="Times New Roman"/>
                <a:cs typeface="Times New Roman"/>
              </a:rPr>
              <a:t> </a:t>
            </a:r>
            <a:r>
              <a:rPr lang="en-US" sz="1800" kern="0" dirty="0">
                <a:solidFill>
                  <a:schemeClr val="tx1"/>
                </a:solidFill>
                <a:effectLst/>
                <a:latin typeface="Times New Roman" panose="02020603050405020304" pitchFamily="18" charset="0"/>
                <a:ea typeface="Times New Roman" panose="02020603050405020304" pitchFamily="18" charset="0"/>
              </a:rPr>
              <a:t>Dual-Protocol Chat Application Using TCP and UDP </a:t>
            </a:r>
            <a:endParaRPr sz="1800" dirty="0">
              <a:latin typeface="Times New Roman"/>
              <a:cs typeface="Times New Roman"/>
            </a:endParaRPr>
          </a:p>
          <a:p>
            <a:pPr marR="151130" algn="ctr">
              <a:lnSpc>
                <a:spcPct val="100000"/>
              </a:lnSpc>
              <a:spcBef>
                <a:spcPts val="795"/>
              </a:spcBef>
            </a:pPr>
            <a:r>
              <a:rPr lang="en-US" sz="1700" dirty="0">
                <a:latin typeface="Times New Roman"/>
                <a:cs typeface="Times New Roman"/>
              </a:rPr>
              <a:t>             </a:t>
            </a:r>
            <a:r>
              <a:rPr sz="1700" dirty="0">
                <a:latin typeface="Times New Roman"/>
                <a:cs typeface="Times New Roman"/>
              </a:rPr>
              <a:t>TEAM</a:t>
            </a:r>
            <a:r>
              <a:rPr sz="1700" spc="-60" dirty="0">
                <a:latin typeface="Times New Roman"/>
                <a:cs typeface="Times New Roman"/>
              </a:rPr>
              <a:t> </a:t>
            </a:r>
            <a:r>
              <a:rPr sz="1700" dirty="0">
                <a:latin typeface="Times New Roman"/>
                <a:cs typeface="Times New Roman"/>
              </a:rPr>
              <a:t>MEMBERS</a:t>
            </a:r>
            <a:r>
              <a:rPr lang="en-US" sz="1700" dirty="0">
                <a:latin typeface="Times New Roman"/>
                <a:cs typeface="Times New Roman"/>
              </a:rPr>
              <a:t>:</a:t>
            </a:r>
          </a:p>
          <a:p>
            <a:pPr marR="151130" algn="ctr">
              <a:lnSpc>
                <a:spcPct val="100000"/>
              </a:lnSpc>
              <a:spcBef>
                <a:spcPts val="795"/>
              </a:spcBef>
            </a:pPr>
            <a:endParaRPr lang="en-US" sz="1700" dirty="0">
              <a:latin typeface="Times New Roman"/>
              <a:cs typeface="Times New Roman"/>
            </a:endParaRPr>
          </a:p>
        </p:txBody>
      </p:sp>
      <p:pic>
        <p:nvPicPr>
          <p:cNvPr id="4" name="object 4"/>
          <p:cNvPicPr/>
          <p:nvPr/>
        </p:nvPicPr>
        <p:blipFill>
          <a:blip r:embed="rId2" cstate="print"/>
          <a:stretch>
            <a:fillRect/>
          </a:stretch>
        </p:blipFill>
        <p:spPr>
          <a:xfrm>
            <a:off x="5257800" y="155408"/>
            <a:ext cx="1892808" cy="1086769"/>
          </a:xfrm>
          <a:prstGeom prst="rect">
            <a:avLst/>
          </a:prstGeom>
        </p:spPr>
      </p:pic>
      <p:sp>
        <p:nvSpPr>
          <p:cNvPr id="5" name="object 5"/>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graphicFrame>
        <p:nvGraphicFramePr>
          <p:cNvPr id="8" name="Table 7">
            <a:extLst>
              <a:ext uri="{FF2B5EF4-FFF2-40B4-BE49-F238E27FC236}">
                <a16:creationId xmlns:a16="http://schemas.microsoft.com/office/drawing/2014/main" id="{CED8F2B4-63A2-29FE-828C-F9A341D743A0}"/>
              </a:ext>
            </a:extLst>
          </p:cNvPr>
          <p:cNvGraphicFramePr>
            <a:graphicFrameLocks noGrp="1"/>
          </p:cNvGraphicFramePr>
          <p:nvPr>
            <p:extLst>
              <p:ext uri="{D42A27DB-BD31-4B8C-83A1-F6EECF244321}">
                <p14:modId xmlns:p14="http://schemas.microsoft.com/office/powerpoint/2010/main" val="1469467627"/>
              </p:ext>
            </p:extLst>
          </p:nvPr>
        </p:nvGraphicFramePr>
        <p:xfrm>
          <a:off x="4648200" y="4114800"/>
          <a:ext cx="4064000" cy="1854200"/>
        </p:xfrm>
        <a:graphic>
          <a:graphicData uri="http://schemas.openxmlformats.org/drawingml/2006/table">
            <a:tbl>
              <a:tblPr firstRow="1" bandRow="1"/>
              <a:tblGrid>
                <a:gridCol w="1778000">
                  <a:extLst>
                    <a:ext uri="{9D8B030D-6E8A-4147-A177-3AD203B41FA5}">
                      <a16:colId xmlns:a16="http://schemas.microsoft.com/office/drawing/2014/main" val="3244656017"/>
                    </a:ext>
                  </a:extLst>
                </a:gridCol>
                <a:gridCol w="2286000">
                  <a:extLst>
                    <a:ext uri="{9D8B030D-6E8A-4147-A177-3AD203B41FA5}">
                      <a16:colId xmlns:a16="http://schemas.microsoft.com/office/drawing/2014/main" val="1118685520"/>
                    </a:ext>
                  </a:extLst>
                </a:gridCol>
              </a:tblGrid>
              <a:tr h="370840">
                <a:tc>
                  <a:txBody>
                    <a:bodyPr/>
                    <a:lstStyle/>
                    <a:p>
                      <a:r>
                        <a:rPr lang="en-US" dirty="0" err="1">
                          <a:latin typeface="Times New Roman" panose="02020603050405020304" pitchFamily="18" charset="0"/>
                          <a:cs typeface="Times New Roman" panose="02020603050405020304" pitchFamily="18" charset="0"/>
                        </a:rPr>
                        <a:t>S.Sirisha</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23D41A66G9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93341685"/>
                  </a:ext>
                </a:extLst>
              </a:tr>
              <a:tr h="370840">
                <a:tc>
                  <a:txBody>
                    <a:bodyPr/>
                    <a:lstStyle/>
                    <a:p>
                      <a:r>
                        <a:rPr lang="en-US" dirty="0" err="1">
                          <a:latin typeface="Times New Roman" panose="02020603050405020304" pitchFamily="18" charset="0"/>
                          <a:cs typeface="Times New Roman" panose="02020603050405020304" pitchFamily="18" charset="0"/>
                        </a:rPr>
                        <a:t>T.Harini</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87794424"/>
                  </a:ext>
                </a:extLst>
              </a:tr>
              <a:tr h="370840">
                <a:tc>
                  <a:txBody>
                    <a:bodyPr/>
                    <a:lstStyle/>
                    <a:p>
                      <a:r>
                        <a:rPr lang="en-US" dirty="0" err="1">
                          <a:latin typeface="Times New Roman" panose="02020603050405020304" pitchFamily="18" charset="0"/>
                          <a:cs typeface="Times New Roman" panose="02020603050405020304" pitchFamily="18" charset="0"/>
                        </a:rPr>
                        <a:t>T.Rishwanth</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69431570"/>
                  </a:ext>
                </a:extLst>
              </a:tr>
              <a:tr h="370840">
                <a:tc>
                  <a:txBody>
                    <a:bodyPr/>
                    <a:lstStyle/>
                    <a:p>
                      <a:r>
                        <a:rPr lang="en-US" dirty="0" err="1">
                          <a:latin typeface="Times New Roman" panose="02020603050405020304" pitchFamily="18" charset="0"/>
                          <a:cs typeface="Times New Roman" panose="02020603050405020304" pitchFamily="18" charset="0"/>
                        </a:rPr>
                        <a:t>U.Navya</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192311356"/>
                  </a:ext>
                </a:extLst>
              </a:tr>
              <a:tr h="370840">
                <a:tc>
                  <a:txBody>
                    <a:bodyPr/>
                    <a:lstStyle/>
                    <a:p>
                      <a:r>
                        <a:rPr lang="en-US" dirty="0" err="1">
                          <a:latin typeface="Times New Roman" panose="02020603050405020304" pitchFamily="18" charset="0"/>
                          <a:cs typeface="Times New Roman" panose="02020603050405020304" pitchFamily="18" charset="0"/>
                        </a:rPr>
                        <a:t>U.Akash</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102740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8551" rIns="0" bIns="0" rtlCol="0">
            <a:spAutoFit/>
          </a:bodyPr>
          <a:lstStyle/>
          <a:p>
            <a:pPr marL="3323590">
              <a:lnSpc>
                <a:spcPct val="100000"/>
              </a:lnSpc>
              <a:spcBef>
                <a:spcPts val="95"/>
              </a:spcBef>
            </a:pPr>
            <a:r>
              <a:rPr spc="-10" dirty="0"/>
              <a:t>ABSTRACT</a:t>
            </a:r>
          </a:p>
        </p:txBody>
      </p:sp>
      <p:sp>
        <p:nvSpPr>
          <p:cNvPr id="8" name="Text Placeholder 7">
            <a:extLst>
              <a:ext uri="{FF2B5EF4-FFF2-40B4-BE49-F238E27FC236}">
                <a16:creationId xmlns:a16="http://schemas.microsoft.com/office/drawing/2014/main" id="{F06F407D-6EF6-BB87-9944-CF2647FDCC14}"/>
              </a:ext>
            </a:extLst>
          </p:cNvPr>
          <p:cNvSpPr>
            <a:spLocks noGrp="1"/>
          </p:cNvSpPr>
          <p:nvPr>
            <p:ph type="body" idx="1"/>
          </p:nvPr>
        </p:nvSpPr>
        <p:spPr>
          <a:xfrm>
            <a:off x="992835" y="1250086"/>
            <a:ext cx="9725660" cy="2631490"/>
          </a:xfrm>
        </p:spPr>
        <p:txBody>
          <a:bodyPr/>
          <a:lstStyle/>
          <a:p>
            <a:pPr algn="just"/>
            <a:r>
              <a:rPr lang="en-IN" dirty="0"/>
              <a:t>This project presents a GUI-based chat application that supports both TCP and UDP communication using Python. Traditional socket programs usually operate through the terminal, which can be confusing and difficult for beginners to visualize. To address this, the proposed system integrates Python’s socket programming with a graphical interface built using </a:t>
            </a:r>
            <a:r>
              <a:rPr lang="en-IN" dirty="0" err="1"/>
              <a:t>Tkinter</a:t>
            </a:r>
            <a:r>
              <a:rPr lang="en-IN" dirty="0"/>
              <a:t>.</a:t>
            </a:r>
            <a:br>
              <a:rPr lang="en-IN" dirty="0"/>
            </a:br>
            <a:r>
              <a:rPr lang="en-IN" dirty="0"/>
              <a:t>The application allows users to select either TCP or UDP protocol and then exchange messages through a clean chat window. The GUI ensures clear message flow, easy usability, and real-time communication. This project effectively demonstrates how networking concepts can be implemented in a practical, interactive, and user-friendly manner.</a:t>
            </a:r>
          </a:p>
          <a:p>
            <a:pPr algn="just"/>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9" name="object 5">
            <a:extLst>
              <a:ext uri="{FF2B5EF4-FFF2-40B4-BE49-F238E27FC236}">
                <a16:creationId xmlns:a16="http://schemas.microsoft.com/office/drawing/2014/main" id="{51DB827F-BE7A-69AB-E6FA-973BE00320A4}"/>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97785">
              <a:lnSpc>
                <a:spcPct val="100000"/>
              </a:lnSpc>
              <a:spcBef>
                <a:spcPts val="95"/>
              </a:spcBef>
            </a:pPr>
            <a:r>
              <a:rPr dirty="0"/>
              <a:t>EXISTING</a:t>
            </a:r>
            <a:r>
              <a:rPr spc="-200" dirty="0"/>
              <a:t> </a:t>
            </a:r>
            <a:r>
              <a:rPr spc="-10" dirty="0"/>
              <a:t>SYSTEM</a:t>
            </a:r>
          </a:p>
        </p:txBody>
      </p:sp>
      <p:sp>
        <p:nvSpPr>
          <p:cNvPr id="4" name="Text Placeholder 3">
            <a:extLst>
              <a:ext uri="{FF2B5EF4-FFF2-40B4-BE49-F238E27FC236}">
                <a16:creationId xmlns:a16="http://schemas.microsoft.com/office/drawing/2014/main" id="{537DA76B-065B-C42E-7829-7558F4580ABD}"/>
              </a:ext>
            </a:extLst>
          </p:cNvPr>
          <p:cNvSpPr>
            <a:spLocks noGrp="1"/>
          </p:cNvSpPr>
          <p:nvPr>
            <p:ph type="body" idx="1"/>
          </p:nvPr>
        </p:nvSpPr>
        <p:spPr>
          <a:xfrm>
            <a:off x="992835" y="1250086"/>
            <a:ext cx="9725660" cy="2046714"/>
          </a:xfrm>
        </p:spPr>
        <p:txBody>
          <a:bodyPr/>
          <a:lstStyle/>
          <a:p>
            <a:pPr marL="342900" indent="-342900">
              <a:buFont typeface="Arial" panose="020B0604020202020204" pitchFamily="34" charset="0"/>
              <a:buChar char="•"/>
            </a:pPr>
            <a:r>
              <a:rPr lang="en-IN" dirty="0"/>
              <a:t>Uses terminal-based TCP/UDP programs</a:t>
            </a:r>
          </a:p>
          <a:p>
            <a:pPr marL="342900" indent="-342900">
              <a:buFont typeface="Arial" panose="020B0604020202020204" pitchFamily="34" charset="0"/>
              <a:buChar char="•"/>
            </a:pPr>
            <a:r>
              <a:rPr lang="en-IN" dirty="0"/>
              <a:t>No GUI or clear message display</a:t>
            </a:r>
          </a:p>
          <a:p>
            <a:pPr marL="342900" indent="-342900">
              <a:buFont typeface="Arial" panose="020B0604020202020204" pitchFamily="34" charset="0"/>
              <a:buChar char="•"/>
            </a:pPr>
            <a:r>
              <a:rPr lang="en-IN" dirty="0"/>
              <a:t>User must switch between multiple terminals</a:t>
            </a:r>
          </a:p>
          <a:p>
            <a:pPr marL="342900" indent="-342900">
              <a:buFont typeface="Arial" panose="020B0604020202020204" pitchFamily="34" charset="0"/>
              <a:buChar char="•"/>
            </a:pPr>
            <a:r>
              <a:rPr lang="en-IN" dirty="0"/>
              <a:t>Hard to identify message flow</a:t>
            </a:r>
          </a:p>
          <a:p>
            <a:pPr marL="342900" indent="-342900">
              <a:buFont typeface="Arial" panose="020B0604020202020204" pitchFamily="34" charset="0"/>
              <a:buChar char="•"/>
            </a:pPr>
            <a:r>
              <a:rPr lang="en-IN" dirty="0"/>
              <a:t>Not user-friendly for beginners</a:t>
            </a:r>
          </a:p>
          <a:p>
            <a:pPr marL="342900" indent="-342900">
              <a:buFont typeface="Arial" panose="020B0604020202020204" pitchFamily="34" charset="0"/>
              <a:buChar char="•"/>
            </a:pPr>
            <a:r>
              <a:rPr lang="en-IN" dirty="0"/>
              <a:t>Limited to basic demonstration of sockets</a:t>
            </a:r>
          </a:p>
          <a:p>
            <a:pPr marL="342900" indent="-342900">
              <a:buFont typeface="Arial" panose="020B0604020202020204" pitchFamily="34" charset="0"/>
              <a:buChar char="•"/>
            </a:pPr>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3" name="object 3"/>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8" name="object 5">
            <a:extLst>
              <a:ext uri="{FF2B5EF4-FFF2-40B4-BE49-F238E27FC236}">
                <a16:creationId xmlns:a16="http://schemas.microsoft.com/office/drawing/2014/main" id="{376743E3-9B70-5369-CF4C-0B8DD9F95F86}"/>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7630" rIns="0" bIns="0" rtlCol="0">
            <a:spAutoFit/>
          </a:bodyPr>
          <a:lstStyle/>
          <a:p>
            <a:pPr marL="2557780">
              <a:lnSpc>
                <a:spcPct val="100000"/>
              </a:lnSpc>
              <a:spcBef>
                <a:spcPts val="95"/>
              </a:spcBef>
            </a:pPr>
            <a:r>
              <a:rPr spc="-20" dirty="0"/>
              <a:t>PROPOSED</a:t>
            </a:r>
            <a:r>
              <a:rPr spc="-120" dirty="0"/>
              <a:t> </a:t>
            </a:r>
            <a:r>
              <a:rPr spc="-10" dirty="0"/>
              <a:t>SYSTEM</a:t>
            </a:r>
          </a:p>
        </p:txBody>
      </p:sp>
      <p:sp>
        <p:nvSpPr>
          <p:cNvPr id="3" name="Text Placeholder 2">
            <a:extLst>
              <a:ext uri="{FF2B5EF4-FFF2-40B4-BE49-F238E27FC236}">
                <a16:creationId xmlns:a16="http://schemas.microsoft.com/office/drawing/2014/main" id="{45AB262C-2B60-598E-3D33-F93FE7BB4E22}"/>
              </a:ext>
            </a:extLst>
          </p:cNvPr>
          <p:cNvSpPr>
            <a:spLocks noGrp="1"/>
          </p:cNvSpPr>
          <p:nvPr>
            <p:ph type="body" idx="1"/>
          </p:nvPr>
        </p:nvSpPr>
        <p:spPr>
          <a:xfrm>
            <a:off x="992835" y="1250086"/>
            <a:ext cx="9725660" cy="2046714"/>
          </a:xfrm>
        </p:spPr>
        <p:txBody>
          <a:bodyPr/>
          <a:lstStyle/>
          <a:p>
            <a:pPr marL="342900" indent="-342900">
              <a:buFont typeface="Arial" panose="020B0604020202020204" pitchFamily="34" charset="0"/>
              <a:buChar char="•"/>
            </a:pPr>
            <a:r>
              <a:rPr lang="en-IN" dirty="0"/>
              <a:t>GUI-based chat for both TCP and UDP</a:t>
            </a:r>
          </a:p>
          <a:p>
            <a:pPr marL="342900" indent="-342900">
              <a:buFont typeface="Arial" panose="020B0604020202020204" pitchFamily="34" charset="0"/>
              <a:buChar char="•"/>
            </a:pPr>
            <a:r>
              <a:rPr lang="en-IN" dirty="0"/>
              <a:t>Clear chat window with </a:t>
            </a:r>
            <a:r>
              <a:rPr lang="en-IN" dirty="0" err="1"/>
              <a:t>labeled</a:t>
            </a:r>
            <a:r>
              <a:rPr lang="en-IN" dirty="0"/>
              <a:t> input field</a:t>
            </a:r>
          </a:p>
          <a:p>
            <a:pPr marL="342900" indent="-342900">
              <a:buFont typeface="Arial" panose="020B0604020202020204" pitchFamily="34" charset="0"/>
              <a:buChar char="•"/>
            </a:pPr>
            <a:r>
              <a:rPr lang="en-IN" dirty="0"/>
              <a:t>Sends and receives messages in real time</a:t>
            </a:r>
          </a:p>
          <a:p>
            <a:pPr marL="342900" indent="-342900">
              <a:buFont typeface="Arial" panose="020B0604020202020204" pitchFamily="34" charset="0"/>
              <a:buChar char="•"/>
            </a:pPr>
            <a:r>
              <a:rPr lang="en-IN" dirty="0"/>
              <a:t>Protocol selection at </a:t>
            </a:r>
            <a:r>
              <a:rPr lang="en-IN" dirty="0" err="1"/>
              <a:t>startup</a:t>
            </a:r>
            <a:endParaRPr lang="en-IN" dirty="0"/>
          </a:p>
          <a:p>
            <a:pPr marL="342900" indent="-342900">
              <a:buFont typeface="Arial" panose="020B0604020202020204" pitchFamily="34" charset="0"/>
              <a:buChar char="•"/>
            </a:pPr>
            <a:r>
              <a:rPr lang="en-IN" dirty="0"/>
              <a:t>More interactive and easy to use</a:t>
            </a:r>
          </a:p>
          <a:p>
            <a:pPr marL="342900" indent="-342900">
              <a:buFont typeface="Arial" panose="020B0604020202020204" pitchFamily="34" charset="0"/>
              <a:buChar char="•"/>
            </a:pPr>
            <a:r>
              <a:rPr lang="en-IN" dirty="0"/>
              <a:t>Helps understand networking concepts visually</a:t>
            </a:r>
          </a:p>
          <a:p>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8" name="object 5">
            <a:extLst>
              <a:ext uri="{FF2B5EF4-FFF2-40B4-BE49-F238E27FC236}">
                <a16:creationId xmlns:a16="http://schemas.microsoft.com/office/drawing/2014/main" id="{5FB5660B-1277-3E99-BC47-611BE5426886}"/>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0969" rIns="0" bIns="0" rtlCol="0">
            <a:spAutoFit/>
          </a:bodyPr>
          <a:lstStyle/>
          <a:p>
            <a:pPr marL="12700">
              <a:lnSpc>
                <a:spcPct val="100000"/>
              </a:lnSpc>
              <a:spcBef>
                <a:spcPts val="95"/>
              </a:spcBef>
            </a:pPr>
            <a:r>
              <a:rPr spc="-90" dirty="0"/>
              <a:t>HARDWARE</a:t>
            </a:r>
            <a:r>
              <a:rPr spc="-165" dirty="0"/>
              <a:t> </a:t>
            </a:r>
            <a:r>
              <a:rPr dirty="0"/>
              <a:t>AND</a:t>
            </a:r>
            <a:r>
              <a:rPr spc="-200" dirty="0"/>
              <a:t> </a:t>
            </a:r>
            <a:r>
              <a:rPr spc="-40" dirty="0"/>
              <a:t>SOFTWARE</a:t>
            </a:r>
            <a:r>
              <a:rPr spc="-90" dirty="0"/>
              <a:t> </a:t>
            </a:r>
            <a:r>
              <a:rPr spc="-10" dirty="0"/>
              <a:t>REQUIREMENTS</a:t>
            </a:r>
          </a:p>
        </p:txBody>
      </p:sp>
      <p:sp>
        <p:nvSpPr>
          <p:cNvPr id="3" name="object 3"/>
          <p:cNvSpPr txBox="1"/>
          <p:nvPr/>
        </p:nvSpPr>
        <p:spPr>
          <a:xfrm>
            <a:off x="951990" y="1261838"/>
            <a:ext cx="7887209" cy="3465692"/>
          </a:xfrm>
          <a:prstGeom prst="rect">
            <a:avLst/>
          </a:prstGeom>
        </p:spPr>
        <p:txBody>
          <a:bodyPr vert="horz" wrap="square" lIns="0" tIns="140335" rIns="0" bIns="0" rtlCol="0">
            <a:spAutoFit/>
          </a:bodyPr>
          <a:lstStyle/>
          <a:p>
            <a:pPr marL="289560"/>
            <a:r>
              <a:rPr lang="en-US" sz="1800" b="1" dirty="0">
                <a:effectLst/>
                <a:latin typeface="Times New Roman" panose="02020603050405020304" pitchFamily="18" charset="0"/>
                <a:ea typeface="Times New Roman" panose="02020603050405020304" pitchFamily="18" charset="0"/>
              </a:rPr>
              <a:t>HARDWARE</a:t>
            </a:r>
            <a:r>
              <a:rPr lang="en-US" sz="1800" b="1" spc="-25"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REQUIREMENTS:</a:t>
            </a:r>
            <a:endParaRPr lang="en-IN" sz="1800" b="1" dirty="0">
              <a:effectLst/>
              <a:latin typeface="Times New Roman" panose="02020603050405020304" pitchFamily="18" charset="0"/>
              <a:ea typeface="Times New Roman" panose="02020603050405020304" pitchFamily="18" charset="0"/>
            </a:endParaRPr>
          </a:p>
          <a:p>
            <a:pPr marL="289560"/>
            <a:r>
              <a:rPr lang="en-US" sz="1800" b="1" dirty="0">
                <a:effectLst/>
                <a:latin typeface="Times New Roman" panose="02020603050405020304" pitchFamily="18" charset="0"/>
                <a:ea typeface="Times New Roman" panose="02020603050405020304" pitchFamily="18" charset="0"/>
              </a:rPr>
              <a:t> </a:t>
            </a:r>
            <a:endParaRPr lang="en-IN" sz="1800" b="1" dirty="0">
              <a:effectLst/>
              <a:latin typeface="Times New Roman" panose="02020603050405020304" pitchFamily="18" charset="0"/>
              <a:ea typeface="Times New Roman" panose="02020603050405020304" pitchFamily="18" charset="0"/>
            </a:endParaRPr>
          </a:p>
          <a:p>
            <a:pPr algn="l"/>
            <a:r>
              <a:rPr lang="en-US" sz="1800" dirty="0">
                <a:effectLst/>
                <a:latin typeface="Times New Roman" panose="02020603050405020304" pitchFamily="18" charset="0"/>
                <a:ea typeface="Times New Roman" panose="02020603050405020304" pitchFamily="18" charset="0"/>
              </a:rPr>
              <a:t>     Processor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Intel Core i3 (1st Generation or above)</a:t>
            </a:r>
          </a:p>
          <a:p>
            <a:pPr indent="289560" algn="l"/>
            <a:r>
              <a:rPr lang="en-US" sz="1800" dirty="0">
                <a:effectLst/>
                <a:latin typeface="Times New Roman" panose="02020603050405020304" pitchFamily="18" charset="0"/>
                <a:ea typeface="Times New Roman" panose="02020603050405020304" pitchFamily="18" charset="0"/>
              </a:rPr>
              <a:t>Hard Disk :- 256 GB</a:t>
            </a:r>
            <a:endParaRPr lang="en-IN" sz="1800" dirty="0">
              <a:effectLst/>
              <a:latin typeface="Times New Roman" panose="02020603050405020304" pitchFamily="18" charset="0"/>
              <a:ea typeface="Times New Roman" panose="02020603050405020304" pitchFamily="18" charset="0"/>
            </a:endParaRPr>
          </a:p>
          <a:p>
            <a:pPr marL="289560" algn="l"/>
            <a:r>
              <a:rPr lang="en-US" sz="1800" dirty="0">
                <a:effectLst/>
                <a:latin typeface="Times New Roman" panose="02020603050405020304" pitchFamily="18" charset="0"/>
                <a:ea typeface="Times New Roman" panose="02020603050405020304" pitchFamily="18" charset="0"/>
              </a:rPr>
              <a:t>RAM</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4GB</a:t>
            </a:r>
            <a:endParaRPr lang="en-IN" sz="1800" dirty="0">
              <a:effectLst/>
              <a:latin typeface="Times New Roman" panose="02020603050405020304" pitchFamily="18" charset="0"/>
              <a:ea typeface="Times New Roman" panose="02020603050405020304" pitchFamily="18" charset="0"/>
            </a:endParaRPr>
          </a:p>
          <a:p>
            <a:pPr algn="l"/>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289560"/>
            <a:r>
              <a:rPr lang="en-US" sz="1800" b="1" dirty="0">
                <a:effectLst/>
                <a:latin typeface="Times New Roman" panose="02020603050405020304" pitchFamily="18" charset="0"/>
                <a:ea typeface="Times New Roman" panose="02020603050405020304" pitchFamily="18" charset="0"/>
              </a:rPr>
              <a:t>SOFTWARE</a:t>
            </a:r>
            <a:r>
              <a:rPr lang="en-US" sz="1800" b="1" spc="-25"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REQUIREMENTS:</a:t>
            </a:r>
            <a:endParaRPr lang="en-IN" sz="1800" b="1" dirty="0">
              <a:effectLst/>
              <a:latin typeface="Times New Roman" panose="02020603050405020304" pitchFamily="18" charset="0"/>
              <a:ea typeface="Times New Roman" panose="02020603050405020304" pitchFamily="18" charset="0"/>
            </a:endParaRPr>
          </a:p>
          <a:p>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l"/>
            <a:r>
              <a:rPr lang="en-US" sz="1800" dirty="0">
                <a:effectLst/>
                <a:latin typeface="Times New Roman" panose="02020603050405020304" pitchFamily="18" charset="0"/>
                <a:ea typeface="Times New Roman" panose="02020603050405020304" pitchFamily="18" charset="0"/>
              </a:rPr>
              <a:t>     Operating</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Windows /MAC OS</a:t>
            </a:r>
            <a:endParaRPr lang="en-IN" sz="1800" dirty="0">
              <a:effectLst/>
              <a:latin typeface="Times New Roman" panose="02020603050405020304" pitchFamily="18" charset="0"/>
              <a:ea typeface="Times New Roman" panose="02020603050405020304" pitchFamily="18" charset="0"/>
            </a:endParaRPr>
          </a:p>
          <a:p>
            <a:pPr marL="289560" marR="3792220" algn="l">
              <a:spcAft>
                <a:spcPts val="0"/>
              </a:spcAft>
            </a:pPr>
            <a:r>
              <a:rPr lang="en-US" sz="1800" dirty="0">
                <a:effectLst/>
                <a:latin typeface="Times New Roman" panose="02020603050405020304" pitchFamily="18" charset="0"/>
                <a:ea typeface="Times New Roman" panose="02020603050405020304" pitchFamily="18" charset="0"/>
              </a:rPr>
              <a:t>Programming Language :- Python</a:t>
            </a:r>
            <a:endParaRPr lang="en-IN" sz="1800" dirty="0">
              <a:effectLst/>
              <a:latin typeface="Times New Roman" panose="02020603050405020304" pitchFamily="18" charset="0"/>
              <a:ea typeface="Times New Roman" panose="02020603050405020304" pitchFamily="18" charset="0"/>
            </a:endParaRPr>
          </a:p>
          <a:p>
            <a:pPr marL="289560" marR="3792220" algn="l">
              <a:spcAft>
                <a:spcPts val="0"/>
              </a:spcAft>
            </a:pPr>
            <a:r>
              <a:rPr lang="en-US" sz="1800" dirty="0">
                <a:effectLst/>
                <a:latin typeface="Times New Roman" panose="02020603050405020304" pitchFamily="18" charset="0"/>
                <a:ea typeface="Times New Roman" panose="02020603050405020304" pitchFamily="18" charset="0"/>
              </a:rPr>
              <a:t>Libraries :- socket, </a:t>
            </a:r>
            <a:r>
              <a:rPr lang="en-US" sz="1800" dirty="0" err="1">
                <a:effectLst/>
                <a:latin typeface="Times New Roman" panose="02020603050405020304" pitchFamily="18" charset="0"/>
                <a:ea typeface="Times New Roman" panose="02020603050405020304" pitchFamily="18" charset="0"/>
              </a:rPr>
              <a:t>tkinter</a:t>
            </a:r>
            <a:r>
              <a:rPr lang="en-US" sz="1800" dirty="0">
                <a:effectLst/>
                <a:latin typeface="Times New Roman" panose="02020603050405020304" pitchFamily="18" charset="0"/>
                <a:ea typeface="Times New Roman" panose="02020603050405020304" pitchFamily="18" charset="0"/>
              </a:rPr>
              <a:t>, threading</a:t>
            </a:r>
            <a:endParaRPr lang="en-IN" sz="1800" dirty="0">
              <a:effectLst/>
              <a:latin typeface="Times New Roman" panose="02020603050405020304" pitchFamily="18" charset="0"/>
              <a:ea typeface="Times New Roman" panose="02020603050405020304" pitchFamily="18" charset="0"/>
            </a:endParaRPr>
          </a:p>
          <a:p>
            <a:pPr algn="l"/>
            <a:r>
              <a:rPr lang="en-US" sz="1800" dirty="0">
                <a:effectLst/>
                <a:latin typeface="Times New Roman" panose="02020603050405020304" pitchFamily="18" charset="0"/>
                <a:ea typeface="Times New Roman" panose="02020603050405020304" pitchFamily="18" charset="0"/>
              </a:rPr>
              <a:t>     Software used :-  Visual Studio Code</a:t>
            </a:r>
            <a:r>
              <a:rPr lang="en-IN" dirty="0">
                <a:effectLst/>
              </a:rPr>
              <a:t> </a:t>
            </a:r>
            <a:endParaRPr sz="1800" dirty="0">
              <a:latin typeface="Times New Roman"/>
              <a:cs typeface="Times New Roman"/>
            </a:endParaRP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8" name="object 5">
            <a:extLst>
              <a:ext uri="{FF2B5EF4-FFF2-40B4-BE49-F238E27FC236}">
                <a16:creationId xmlns:a16="http://schemas.microsoft.com/office/drawing/2014/main" id="{EA9C3DA9-03F5-F160-2053-90D0888C19A2}"/>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877820">
              <a:lnSpc>
                <a:spcPct val="100000"/>
              </a:lnSpc>
              <a:spcBef>
                <a:spcPts val="95"/>
              </a:spcBef>
            </a:pPr>
            <a:r>
              <a:rPr spc="-55" dirty="0"/>
              <a:t>IMPLEMENTATION</a:t>
            </a:r>
          </a:p>
        </p:txBody>
      </p:sp>
      <p:sp>
        <p:nvSpPr>
          <p:cNvPr id="8" name="Content Placeholder 7">
            <a:extLst>
              <a:ext uri="{FF2B5EF4-FFF2-40B4-BE49-F238E27FC236}">
                <a16:creationId xmlns:a16="http://schemas.microsoft.com/office/drawing/2014/main" id="{C3850E1D-0664-B726-1107-A2736E9BBB34}"/>
              </a:ext>
            </a:extLst>
          </p:cNvPr>
          <p:cNvSpPr>
            <a:spLocks noGrp="1"/>
          </p:cNvSpPr>
          <p:nvPr>
            <p:ph sz="half" idx="2"/>
          </p:nvPr>
        </p:nvSpPr>
        <p:spPr>
          <a:xfrm>
            <a:off x="609600" y="1577340"/>
            <a:ext cx="5303520" cy="3508653"/>
          </a:xfrm>
        </p:spPr>
        <p:txBody>
          <a:bodyPr/>
          <a:lstStyle/>
          <a:p>
            <a:r>
              <a:rPr lang="en-IN" b="1" dirty="0" err="1"/>
              <a:t>server_tcp_backend.py</a:t>
            </a:r>
            <a:endParaRPr lang="en-IN" b="1" dirty="0"/>
          </a:p>
          <a:p>
            <a:r>
              <a:rPr lang="en-IN" dirty="0"/>
              <a:t>This file contains the </a:t>
            </a:r>
            <a:r>
              <a:rPr lang="en-IN" b="1" dirty="0"/>
              <a:t>TCP communication backend</a:t>
            </a:r>
            <a:r>
              <a:rPr lang="en-IN" dirty="0"/>
              <a:t> for the server.</a:t>
            </a:r>
            <a:br>
              <a:rPr lang="en-IN" dirty="0"/>
            </a:br>
            <a:r>
              <a:rPr lang="en-IN" dirty="0"/>
              <a:t>Its responsibilities include:</a:t>
            </a:r>
          </a:p>
          <a:p>
            <a:pPr>
              <a:buFont typeface="Arial" panose="020B0604020202020204" pitchFamily="34" charset="0"/>
              <a:buChar char="•"/>
            </a:pPr>
            <a:r>
              <a:rPr lang="en-IN" dirty="0"/>
              <a:t>Creating and configuring a TCP socket</a:t>
            </a:r>
          </a:p>
          <a:p>
            <a:pPr>
              <a:buFont typeface="Arial" panose="020B0604020202020204" pitchFamily="34" charset="0"/>
              <a:buChar char="•"/>
            </a:pPr>
            <a:r>
              <a:rPr lang="en-IN" dirty="0"/>
              <a:t>Binding to the server’s host and port</a:t>
            </a:r>
          </a:p>
          <a:p>
            <a:pPr>
              <a:buFont typeface="Arial" panose="020B0604020202020204" pitchFamily="34" charset="0"/>
              <a:buChar char="•"/>
            </a:pPr>
            <a:r>
              <a:rPr lang="en-IN" dirty="0"/>
              <a:t>Accepting a client connection</a:t>
            </a:r>
          </a:p>
          <a:p>
            <a:pPr>
              <a:buFont typeface="Arial" panose="020B0604020202020204" pitchFamily="34" charset="0"/>
              <a:buChar char="•"/>
            </a:pPr>
            <a:r>
              <a:rPr lang="en-IN" dirty="0"/>
              <a:t>Receiving data sent by the client</a:t>
            </a:r>
          </a:p>
          <a:p>
            <a:pPr>
              <a:buFont typeface="Arial" panose="020B0604020202020204" pitchFamily="34" charset="0"/>
              <a:buChar char="•"/>
            </a:pPr>
            <a:r>
              <a:rPr lang="en-IN" dirty="0"/>
              <a:t>Sending responses back</a:t>
            </a:r>
            <a:br>
              <a:rPr lang="en-IN" dirty="0"/>
            </a:br>
            <a:r>
              <a:rPr lang="en-IN" dirty="0"/>
              <a:t>This file performs all </a:t>
            </a:r>
            <a:r>
              <a:rPr lang="en-IN" b="1" dirty="0"/>
              <a:t>low-level network operations</a:t>
            </a:r>
            <a:r>
              <a:rPr lang="en-IN" dirty="0"/>
              <a:t>, without any GUI components.</a:t>
            </a:r>
          </a:p>
          <a:p>
            <a:endParaRPr lang="en-US" dirty="0"/>
          </a:p>
        </p:txBody>
      </p:sp>
      <p:sp>
        <p:nvSpPr>
          <p:cNvPr id="9" name="Content Placeholder 8">
            <a:extLst>
              <a:ext uri="{FF2B5EF4-FFF2-40B4-BE49-F238E27FC236}">
                <a16:creationId xmlns:a16="http://schemas.microsoft.com/office/drawing/2014/main" id="{440EF3E4-A86F-E7B2-11C4-3B381C926656}"/>
              </a:ext>
            </a:extLst>
          </p:cNvPr>
          <p:cNvSpPr>
            <a:spLocks noGrp="1"/>
          </p:cNvSpPr>
          <p:nvPr>
            <p:ph sz="half" idx="3"/>
          </p:nvPr>
        </p:nvSpPr>
        <p:spPr>
          <a:xfrm>
            <a:off x="6278880" y="1577340"/>
            <a:ext cx="5303520" cy="3216265"/>
          </a:xfrm>
        </p:spPr>
        <p:txBody>
          <a:bodyPr/>
          <a:lstStyle/>
          <a:p>
            <a:r>
              <a:rPr lang="en-IN" b="1" dirty="0" err="1"/>
              <a:t>server_udp_backend.py</a:t>
            </a:r>
            <a:endParaRPr lang="en-IN" b="1" dirty="0"/>
          </a:p>
          <a:p>
            <a:r>
              <a:rPr lang="en-IN" dirty="0"/>
              <a:t>This file implements the </a:t>
            </a:r>
            <a:r>
              <a:rPr lang="en-IN" b="1" dirty="0"/>
              <a:t>UDP backend logic</a:t>
            </a:r>
            <a:r>
              <a:rPr lang="en-IN" dirty="0"/>
              <a:t>.</a:t>
            </a:r>
            <a:br>
              <a:rPr lang="en-IN" dirty="0"/>
            </a:br>
            <a:r>
              <a:rPr lang="en-IN" dirty="0"/>
              <a:t>It performs:</a:t>
            </a:r>
          </a:p>
          <a:p>
            <a:pPr>
              <a:buFont typeface="Arial" panose="020B0604020202020204" pitchFamily="34" charset="0"/>
              <a:buChar char="•"/>
            </a:pPr>
            <a:r>
              <a:rPr lang="en-IN" dirty="0"/>
              <a:t>Creating a UDP socket</a:t>
            </a:r>
          </a:p>
          <a:p>
            <a:pPr>
              <a:buFont typeface="Arial" panose="020B0604020202020204" pitchFamily="34" charset="0"/>
              <a:buChar char="•"/>
            </a:pPr>
            <a:r>
              <a:rPr lang="en-IN" dirty="0"/>
              <a:t>Binding the server to a port</a:t>
            </a:r>
          </a:p>
          <a:p>
            <a:pPr>
              <a:buFont typeface="Arial" panose="020B0604020202020204" pitchFamily="34" charset="0"/>
              <a:buChar char="•"/>
            </a:pPr>
            <a:r>
              <a:rPr lang="en-IN" dirty="0"/>
              <a:t>Waiting for incoming datagrams from clients</a:t>
            </a:r>
          </a:p>
          <a:p>
            <a:pPr>
              <a:buFont typeface="Arial" panose="020B0604020202020204" pitchFamily="34" charset="0"/>
              <a:buChar char="•"/>
            </a:pPr>
            <a:r>
              <a:rPr lang="en-IN" dirty="0"/>
              <a:t>Sending messages back using the client’s address</a:t>
            </a:r>
            <a:br>
              <a:rPr lang="en-IN" dirty="0"/>
            </a:br>
            <a:r>
              <a:rPr lang="en-IN" dirty="0"/>
              <a:t>Unlike TCP, this file handles </a:t>
            </a:r>
            <a:r>
              <a:rPr lang="en-IN" b="1" dirty="0"/>
              <a:t>connectionless communication</a:t>
            </a:r>
            <a:r>
              <a:rPr lang="en-IN" dirty="0"/>
              <a:t>, as UDP does not require a formal connection handshake.</a:t>
            </a:r>
          </a:p>
          <a:p>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3" name="object 5">
            <a:extLst>
              <a:ext uri="{FF2B5EF4-FFF2-40B4-BE49-F238E27FC236}">
                <a16:creationId xmlns:a16="http://schemas.microsoft.com/office/drawing/2014/main" id="{13696EC6-44BE-78C1-7C1D-6F824C2A2BB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877820">
              <a:lnSpc>
                <a:spcPct val="100000"/>
              </a:lnSpc>
              <a:spcBef>
                <a:spcPts val="95"/>
              </a:spcBef>
            </a:pPr>
            <a:r>
              <a:rPr spc="-55" dirty="0"/>
              <a:t>IMPLEMENTATION</a:t>
            </a:r>
          </a:p>
        </p:txBody>
      </p:sp>
      <p:sp>
        <p:nvSpPr>
          <p:cNvPr id="8" name="Content Placeholder 7">
            <a:extLst>
              <a:ext uri="{FF2B5EF4-FFF2-40B4-BE49-F238E27FC236}">
                <a16:creationId xmlns:a16="http://schemas.microsoft.com/office/drawing/2014/main" id="{C3850E1D-0664-B726-1107-A2736E9BBB34}"/>
              </a:ext>
            </a:extLst>
          </p:cNvPr>
          <p:cNvSpPr>
            <a:spLocks noGrp="1"/>
          </p:cNvSpPr>
          <p:nvPr>
            <p:ph sz="half" idx="2"/>
          </p:nvPr>
        </p:nvSpPr>
        <p:spPr>
          <a:xfrm>
            <a:off x="609600" y="1577340"/>
            <a:ext cx="5303520" cy="3801041"/>
          </a:xfrm>
        </p:spPr>
        <p:txBody>
          <a:bodyPr/>
          <a:lstStyle/>
          <a:p>
            <a:r>
              <a:rPr lang="en-IN" b="1" dirty="0" err="1"/>
              <a:t>server_gui.py</a:t>
            </a:r>
            <a:endParaRPr lang="en-IN" b="1" dirty="0"/>
          </a:p>
          <a:p>
            <a:r>
              <a:rPr lang="en-IN" dirty="0"/>
              <a:t>This file provides a </a:t>
            </a:r>
            <a:r>
              <a:rPr lang="en-IN" b="1" dirty="0"/>
              <a:t>graphical user interface for the server</a:t>
            </a:r>
            <a:r>
              <a:rPr lang="en-IN" dirty="0"/>
              <a:t>.</a:t>
            </a:r>
            <a:br>
              <a:rPr lang="en-IN" dirty="0"/>
            </a:br>
            <a:r>
              <a:rPr lang="en-IN" dirty="0"/>
              <a:t>Key features:</a:t>
            </a:r>
          </a:p>
          <a:p>
            <a:pPr>
              <a:buFont typeface="Arial" panose="020B0604020202020204" pitchFamily="34" charset="0"/>
              <a:buChar char="•"/>
            </a:pPr>
            <a:r>
              <a:rPr lang="en-IN" dirty="0"/>
              <a:t>Displays messages received from the client</a:t>
            </a:r>
          </a:p>
          <a:p>
            <a:pPr>
              <a:buFont typeface="Arial" panose="020B0604020202020204" pitchFamily="34" charset="0"/>
              <a:buChar char="•"/>
            </a:pPr>
            <a:r>
              <a:rPr lang="en-IN" dirty="0"/>
              <a:t>Provides a text input box clearly </a:t>
            </a:r>
            <a:r>
              <a:rPr lang="en-IN" dirty="0" err="1"/>
              <a:t>labeled</a:t>
            </a:r>
            <a:r>
              <a:rPr lang="en-IN" dirty="0"/>
              <a:t> for sending replies</a:t>
            </a:r>
          </a:p>
          <a:p>
            <a:pPr>
              <a:buFont typeface="Arial" panose="020B0604020202020204" pitchFamily="34" charset="0"/>
              <a:buChar char="•"/>
            </a:pPr>
            <a:r>
              <a:rPr lang="en-IN" dirty="0"/>
              <a:t>Buttons for sending messages and clearing the chat</a:t>
            </a:r>
          </a:p>
          <a:p>
            <a:pPr>
              <a:buFont typeface="Arial" panose="020B0604020202020204" pitchFamily="34" charset="0"/>
              <a:buChar char="•"/>
            </a:pPr>
            <a:r>
              <a:rPr lang="en-IN" dirty="0"/>
              <a:t>Connects to either the TCP or UDP backend using function calls</a:t>
            </a:r>
            <a:br>
              <a:rPr lang="en-IN" dirty="0"/>
            </a:br>
            <a:r>
              <a:rPr lang="en-IN" dirty="0"/>
              <a:t>It handles </a:t>
            </a:r>
            <a:r>
              <a:rPr lang="en-IN" b="1" dirty="0"/>
              <a:t>all user interaction</a:t>
            </a:r>
            <a:r>
              <a:rPr lang="en-IN" dirty="0"/>
              <a:t>, while the backend files manage networking.</a:t>
            </a:r>
          </a:p>
          <a:p>
            <a:endParaRPr lang="en-US" dirty="0"/>
          </a:p>
        </p:txBody>
      </p:sp>
      <p:sp>
        <p:nvSpPr>
          <p:cNvPr id="9" name="Content Placeholder 8">
            <a:extLst>
              <a:ext uri="{FF2B5EF4-FFF2-40B4-BE49-F238E27FC236}">
                <a16:creationId xmlns:a16="http://schemas.microsoft.com/office/drawing/2014/main" id="{440EF3E4-A86F-E7B2-11C4-3B381C926656}"/>
              </a:ext>
            </a:extLst>
          </p:cNvPr>
          <p:cNvSpPr>
            <a:spLocks noGrp="1"/>
          </p:cNvSpPr>
          <p:nvPr>
            <p:ph sz="half" idx="3"/>
          </p:nvPr>
        </p:nvSpPr>
        <p:spPr>
          <a:xfrm>
            <a:off x="6278880" y="1577340"/>
            <a:ext cx="5303520" cy="3508653"/>
          </a:xfrm>
        </p:spPr>
        <p:txBody>
          <a:bodyPr/>
          <a:lstStyle/>
          <a:p>
            <a:r>
              <a:rPr lang="en-IN" b="1" dirty="0" err="1"/>
              <a:t>client_gui.py</a:t>
            </a:r>
            <a:endParaRPr lang="en-IN" b="1" dirty="0"/>
          </a:p>
          <a:p>
            <a:r>
              <a:rPr lang="en-IN" dirty="0"/>
              <a:t>This file contains the </a:t>
            </a:r>
            <a:r>
              <a:rPr lang="en-IN" b="1" dirty="0"/>
              <a:t>client-side GUI</a:t>
            </a:r>
            <a:r>
              <a:rPr lang="en-IN" dirty="0"/>
              <a:t> used for chatting with the server.</a:t>
            </a:r>
            <a:br>
              <a:rPr lang="en-IN" dirty="0"/>
            </a:br>
            <a:r>
              <a:rPr lang="en-IN" dirty="0"/>
              <a:t>It includes:</a:t>
            </a:r>
          </a:p>
          <a:p>
            <a:pPr>
              <a:buFont typeface="Arial" panose="020B0604020202020204" pitchFamily="34" charset="0"/>
              <a:buChar char="•"/>
            </a:pPr>
            <a:r>
              <a:rPr lang="en-IN" dirty="0"/>
              <a:t>A main chat display area</a:t>
            </a:r>
          </a:p>
          <a:p>
            <a:pPr>
              <a:buFont typeface="Arial" panose="020B0604020202020204" pitchFamily="34" charset="0"/>
              <a:buChar char="•"/>
            </a:pPr>
            <a:r>
              <a:rPr lang="en-IN" dirty="0"/>
              <a:t>A clearly marked message input box at the bottom</a:t>
            </a:r>
          </a:p>
          <a:p>
            <a:pPr>
              <a:buFont typeface="Arial" panose="020B0604020202020204" pitchFamily="34" charset="0"/>
              <a:buChar char="•"/>
            </a:pPr>
            <a:r>
              <a:rPr lang="en-IN" dirty="0"/>
              <a:t>Send button for transmitting messages</a:t>
            </a:r>
          </a:p>
          <a:p>
            <a:pPr>
              <a:buFont typeface="Arial" panose="020B0604020202020204" pitchFamily="34" charset="0"/>
              <a:buChar char="•"/>
            </a:pPr>
            <a:r>
              <a:rPr lang="en-IN" dirty="0"/>
              <a:t>Real-time updates of incoming server messages</a:t>
            </a:r>
            <a:br>
              <a:rPr lang="en-IN" dirty="0"/>
            </a:br>
            <a:r>
              <a:rPr lang="en-IN" dirty="0"/>
              <a:t>The GUI communicates with the corresponding backend (TCP/UDP) functions to send and receive data.</a:t>
            </a:r>
          </a:p>
          <a:p>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3" name="object 5">
            <a:extLst>
              <a:ext uri="{FF2B5EF4-FFF2-40B4-BE49-F238E27FC236}">
                <a16:creationId xmlns:a16="http://schemas.microsoft.com/office/drawing/2014/main" id="{13696EC6-44BE-78C1-7C1D-6F824C2A2BB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Tree>
    <p:extLst>
      <p:ext uri="{BB962C8B-B14F-4D97-AF65-F5344CB8AC3E}">
        <p14:creationId xmlns:p14="http://schemas.microsoft.com/office/powerpoint/2010/main" val="2831820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10" name="TextBox 9">
            <a:extLst>
              <a:ext uri="{FF2B5EF4-FFF2-40B4-BE49-F238E27FC236}">
                <a16:creationId xmlns:a16="http://schemas.microsoft.com/office/drawing/2014/main" id="{C4EB136C-3F4F-BEE0-A504-8D4272F5F93D}"/>
              </a:ext>
            </a:extLst>
          </p:cNvPr>
          <p:cNvSpPr txBox="1"/>
          <p:nvPr/>
        </p:nvSpPr>
        <p:spPr>
          <a:xfrm>
            <a:off x="5082883" y="335797"/>
            <a:ext cx="1603324"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OUTPUT</a:t>
            </a:r>
          </a:p>
        </p:txBody>
      </p:sp>
      <p:pic>
        <p:nvPicPr>
          <p:cNvPr id="12" name="Picture 11">
            <a:extLst>
              <a:ext uri="{FF2B5EF4-FFF2-40B4-BE49-F238E27FC236}">
                <a16:creationId xmlns:a16="http://schemas.microsoft.com/office/drawing/2014/main" id="{3654DFE6-8050-A411-AA79-7427643F33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0" y="1447800"/>
            <a:ext cx="5486399" cy="3761266"/>
          </a:xfrm>
          <a:prstGeom prst="rect">
            <a:avLst/>
          </a:prstGeom>
        </p:spPr>
      </p:pic>
      <p:pic>
        <p:nvPicPr>
          <p:cNvPr id="14" name="Picture 13">
            <a:extLst>
              <a:ext uri="{FF2B5EF4-FFF2-40B4-BE49-F238E27FC236}">
                <a16:creationId xmlns:a16="http://schemas.microsoft.com/office/drawing/2014/main" id="{5BA01769-BF42-C685-60D3-4800F3994A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59" y="1447800"/>
            <a:ext cx="6151118" cy="3761267"/>
          </a:xfrm>
          <a:prstGeom prst="rect">
            <a:avLst/>
          </a:prstGeom>
        </p:spPr>
      </p:pic>
      <p:sp>
        <p:nvSpPr>
          <p:cNvPr id="15" name="object 5">
            <a:extLst>
              <a:ext uri="{FF2B5EF4-FFF2-40B4-BE49-F238E27FC236}">
                <a16:creationId xmlns:a16="http://schemas.microsoft.com/office/drawing/2014/main" id="{3FFABA28-726C-52C5-F501-2120E4C0FC58}"/>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3075940">
              <a:lnSpc>
                <a:spcPct val="100000"/>
              </a:lnSpc>
              <a:spcBef>
                <a:spcPts val="90"/>
              </a:spcBef>
            </a:pPr>
            <a:r>
              <a:rPr spc="-10" dirty="0"/>
              <a:t>CONCLUSION</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9" name="Text Placeholder 8">
            <a:extLst>
              <a:ext uri="{FF2B5EF4-FFF2-40B4-BE49-F238E27FC236}">
                <a16:creationId xmlns:a16="http://schemas.microsoft.com/office/drawing/2014/main" id="{D2DF7865-9727-E246-AB04-70302A17B80C}"/>
              </a:ext>
            </a:extLst>
          </p:cNvPr>
          <p:cNvSpPr>
            <a:spLocks noGrp="1"/>
          </p:cNvSpPr>
          <p:nvPr>
            <p:ph type="body" idx="1"/>
          </p:nvPr>
        </p:nvSpPr>
        <p:spPr>
          <a:xfrm>
            <a:off x="992835" y="1250086"/>
            <a:ext cx="9598965" cy="2923877"/>
          </a:xfrm>
        </p:spPr>
        <p:txBody>
          <a:bodyPr/>
          <a:lstStyle/>
          <a:p>
            <a:pPr algn="just"/>
            <a:r>
              <a:rPr lang="en-IN" dirty="0"/>
              <a:t>The GUI-based TCP/UDP Chat Application successfully bridges the gap between theoretical networking concepts and real-world implementation. </a:t>
            </a:r>
          </a:p>
          <a:p>
            <a:pPr algn="just"/>
            <a:r>
              <a:rPr lang="en-IN" dirty="0"/>
              <a:t>By combining socket programming with an intuitive graphical interface, the project transforms a simple terminal-based chat program into a fully interactive communication system. Users can clearly understand protocol </a:t>
            </a:r>
            <a:r>
              <a:rPr lang="en-IN" dirty="0" err="1"/>
              <a:t>behavior</a:t>
            </a:r>
            <a:r>
              <a:rPr lang="en-IN" dirty="0"/>
              <a:t>, message flow, and the differences between TCP and UDP in a hands-on manner. </a:t>
            </a:r>
          </a:p>
          <a:p>
            <a:pPr algn="just"/>
            <a:r>
              <a:rPr lang="en-IN" dirty="0"/>
              <a:t>The application is lightweight, easy to use, and enhances learning through visual interaction. Overall, the project demonstrates effective use of Python for building networking applications and provides a strong foundation for further enhancements such as encryption, file transfer, or multi-client chat systems.</a:t>
            </a:r>
          </a:p>
        </p:txBody>
      </p:sp>
      <p:sp>
        <p:nvSpPr>
          <p:cNvPr id="3" name="object 5">
            <a:extLst>
              <a:ext uri="{FF2B5EF4-FFF2-40B4-BE49-F238E27FC236}">
                <a16:creationId xmlns:a16="http://schemas.microsoft.com/office/drawing/2014/main" id="{F8106224-5DFD-29D8-DB40-1485F5E4CC6F}"/>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25</a:t>
            </a:r>
            <a:r>
              <a:rPr spc="-10" dirty="0"/>
              <a:t>/</a:t>
            </a:r>
            <a:r>
              <a:rPr lang="en-US" spc="-10" dirty="0"/>
              <a:t>11</a:t>
            </a:r>
            <a:r>
              <a:rPr spc="-10" dirty="0"/>
              <a:t>/2025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TotalTime>
  <Words>762</Words>
  <Application>Microsoft Macintosh PowerPoint</Application>
  <PresentationFormat>Widescreen</PresentationFormat>
  <Paragraphs>104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SRI INDU COLLEGE OF ENGINEERING AND TECHNOLOGY DEPARTMENT OF AIML</vt:lpstr>
      <vt:lpstr>ABSTRACT</vt:lpstr>
      <vt:lpstr>EXISTING SYSTEM</vt:lpstr>
      <vt:lpstr>PROPOSED SYSTEM</vt:lpstr>
      <vt:lpstr>HARDWARE AND SOFTWARE REQUIREMENTS</vt:lpstr>
      <vt:lpstr>IMPLEMENTATION</vt:lpstr>
      <vt:lpstr>IMPLEMENTATION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SRI INDU COLLEGE OF ENGINEERING AND TECHNOLOGY DEPARTMENT OF AIML</dc:title>
  <cp:lastModifiedBy>Akash Goud</cp:lastModifiedBy>
  <cp:revision>4</cp:revision>
  <dcterms:created xsi:type="dcterms:W3CDTF">2025-11-24T16:20:45Z</dcterms:created>
  <dcterms:modified xsi:type="dcterms:W3CDTF">2025-11-24T18:51:12Z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2025-05-06T00:00:00Z</vt:filetime>
  </property>
  <property fmtid="{D5CDD505-2E9C-101B-9397-08002B2CF9AE}" pid="3" name="Creator">
    <vt:lpwstr>Microsoft® PowerPoint® 2016</vt:lpwstr>
  </property>
  <property fmtid="{D5CDD505-2E9C-101B-9397-08002B2CF9AE}" pid="4" name="LastSaved">
    <vt:filetime>2025-11-24T00:00:00Z</vt:filetime>
  </property>
  <property fmtid="{D5CDD505-2E9C-101B-9397-08002B2CF9AE}" pid="5" name="Producer">
    <vt:lpwstr>www.ilovepdf.com</vt:lpwstr>
  </property>
</Properties>
</file>